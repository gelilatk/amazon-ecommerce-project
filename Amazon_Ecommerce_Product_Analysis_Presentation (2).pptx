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6" r:id="rId3"/>
    <p:sldId id="1594" r:id="rId4"/>
    <p:sldId id="1597" r:id="rId5"/>
    <p:sldId id="258" r:id="rId7"/>
    <p:sldId id="1598" r:id="rId8"/>
    <p:sldId id="1599" r:id="rId9"/>
    <p:sldId id="1600" r:id="rId10"/>
    <p:sldId id="1601" r:id="rId11"/>
    <p:sldId id="1602" r:id="rId12"/>
    <p:sldId id="1603" r:id="rId13"/>
    <p:sldId id="1607" r:id="rId14"/>
    <p:sldId id="160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2" autoAdjust="0"/>
    <p:restoredTop sz="94641" autoAdjust="0"/>
  </p:normalViewPr>
  <p:slideViewPr>
    <p:cSldViewPr snapToGrid="0" snapToObjects="1" showGuides="1">
      <p:cViewPr varScale="1">
        <p:scale>
          <a:sx n="79" d="100"/>
          <a:sy n="79" d="100"/>
        </p:scale>
        <p:origin x="1498" y="72"/>
      </p:cViewPr>
      <p:guideLst>
        <p:guide orient="horz" pos="213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0DF803-E3A7-4F59-B2D2-8B93E644E1F2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2864AD-AAFC-4B97-93BA-77605343CE0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864AD-AAFC-4B97-93BA-77605343CE0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" y="3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6"/>
            <a:ext cx="9144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7348" y="551965"/>
            <a:ext cx="8249304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293339"/>
            <a:ext cx="6858000" cy="3274592"/>
          </a:xfrm>
        </p:spPr>
        <p:txBody>
          <a:bodyPr anchor="ctr">
            <a:normAutofit/>
          </a:bodyPr>
          <a:lstStyle/>
          <a:p>
            <a:r>
              <a:rPr lang="en-US" sz="6300" dirty="0"/>
              <a:t>Amazon E-Commerce Product Analysis</a:t>
            </a:r>
            <a:endParaRPr lang="en-US" sz="63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514054"/>
            <a:ext cx="6858000" cy="651911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000"/>
              <a:t>Pricing Strategy | Customer Engagement | Product Performance</a:t>
            </a:r>
            <a:endParaRPr lang="en-US" sz="1000"/>
          </a:p>
          <a:p>
            <a:pPr>
              <a:lnSpc>
                <a:spcPct val="90000"/>
              </a:lnSpc>
            </a:pPr>
            <a:endParaRPr lang="en-US" sz="1000"/>
          </a:p>
          <a:p>
            <a:pPr>
              <a:lnSpc>
                <a:spcPct val="90000"/>
              </a:lnSpc>
            </a:pPr>
            <a:r>
              <a:rPr lang="en-US" sz="1000"/>
              <a:t>Prepared by: Group 3</a:t>
            </a:r>
            <a:endParaRPr lang="en-US" sz="1000"/>
          </a:p>
        </p:txBody>
      </p:sp>
      <p:cxnSp>
        <p:nvCxnSpPr>
          <p:cNvPr id="14" name="Straight Connector 13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 flipH="1">
            <a:off x="447350" y="6354708"/>
            <a:ext cx="8250175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38902" y="1546006"/>
            <a:ext cx="529595" cy="4397523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4"/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vert="horz" wrap="square" lIns="68563" tIns="34281" rIns="68563" bIns="34281" numCol="1" anchor="t" anchorCtr="0" compatLnSpc="1"/>
          <a:lstStyle/>
          <a:p>
            <a:endParaRPr lang="en-US" sz="1350"/>
          </a:p>
        </p:txBody>
      </p:sp>
      <p:sp>
        <p:nvSpPr>
          <p:cNvPr id="10" name="Freeform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38411" y="1339914"/>
            <a:ext cx="315231" cy="4251567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vert="horz" wrap="square" lIns="68563" tIns="34281" rIns="68563" bIns="34281" numCol="1" anchor="t" anchorCtr="0" compatLnSpc="1"/>
          <a:lstStyle/>
          <a:p>
            <a:endParaRPr lang="en-US" sz="135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78794" y="1339910"/>
            <a:ext cx="8200127" cy="4043843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>
                <a:lumMod val="75000"/>
              </a:schemeClr>
            </a:solidFill>
            <a:miter lim="800000"/>
          </a:ln>
        </p:spPr>
        <p:txBody>
          <a:bodyPr vert="horz" wrap="square" lIns="68563" tIns="34281" rIns="68563" bIns="34281" numCol="1" anchor="t" anchorCtr="0" compatLnSpc="1"/>
          <a:lstStyle/>
          <a:p>
            <a:endParaRPr lang="en-US" sz="1350"/>
          </a:p>
        </p:txBody>
      </p:sp>
      <p:cxnSp>
        <p:nvCxnSpPr>
          <p:cNvPr id="14" name="Straight Connector 13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572000" y="2161719"/>
            <a:ext cx="0" cy="2400231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3"/>
          <p:cNvSpPr txBox="1"/>
          <p:nvPr/>
        </p:nvSpPr>
        <p:spPr>
          <a:xfrm>
            <a:off x="489424" y="1748988"/>
            <a:ext cx="3575415" cy="1483759"/>
          </a:xfrm>
          <a:prstGeom prst="rect">
            <a:avLst/>
          </a:prstGeom>
        </p:spPr>
        <p:txBody>
          <a:bodyPr vert="horz" lIns="68563" tIns="34281" rIns="68563" bIns="3428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80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US" altLang="en-US" sz="1275" dirty="0">
              <a:latin typeface="Calibri body"/>
            </a:endParaRPr>
          </a:p>
        </p:txBody>
      </p:sp>
      <p:sp>
        <p:nvSpPr>
          <p:cNvPr id="17" name="Text Placeholder 3"/>
          <p:cNvSpPr txBox="1"/>
          <p:nvPr/>
        </p:nvSpPr>
        <p:spPr>
          <a:xfrm>
            <a:off x="485567" y="3650515"/>
            <a:ext cx="3575415" cy="1483759"/>
          </a:xfrm>
          <a:prstGeom prst="rect">
            <a:avLst/>
          </a:prstGeom>
        </p:spPr>
        <p:txBody>
          <a:bodyPr vert="horz" lIns="68563" tIns="34281" rIns="68563" bIns="3428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80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US" altLang="en-US" sz="1275" dirty="0">
              <a:latin typeface="Calibri body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18019" y="3902442"/>
            <a:ext cx="31855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600" dirty="0"/>
              <a:t>Generated business insights</a:t>
            </a:r>
            <a:endParaRPr lang="en-US" sz="1600" dirty="0"/>
          </a:p>
        </p:txBody>
      </p:sp>
      <p:sp>
        <p:nvSpPr>
          <p:cNvPr id="19" name="Rectangle 18"/>
          <p:cNvSpPr/>
          <p:nvPr/>
        </p:nvSpPr>
        <p:spPr>
          <a:xfrm>
            <a:off x="4718019" y="3669088"/>
            <a:ext cx="3109368" cy="3428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ln>
                  <a:solidFill>
                    <a:schemeClr val="accent1"/>
                  </a:solidFill>
                </a:ln>
                <a:solidFill>
                  <a:prstClr val="white"/>
                </a:solidFill>
                <a:latin typeface="Calibri" panose="020F0502020204030204"/>
              </a:rPr>
              <a:t>                                           </a:t>
            </a:r>
            <a:endParaRPr lang="en-US" sz="1350" dirty="0">
              <a:ln>
                <a:solidFill>
                  <a:schemeClr val="accent1"/>
                </a:solidFill>
              </a:ln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Text Placeholder 3"/>
          <p:cNvSpPr txBox="1"/>
          <p:nvPr/>
        </p:nvSpPr>
        <p:spPr>
          <a:xfrm>
            <a:off x="4707568" y="2772486"/>
            <a:ext cx="3575415" cy="1483759"/>
          </a:xfrm>
          <a:prstGeom prst="rect">
            <a:avLst/>
          </a:prstGeom>
        </p:spPr>
        <p:txBody>
          <a:bodyPr vert="horz" lIns="68563" tIns="34281" rIns="68563" bIns="3428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80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endParaRPr lang="en-US" sz="1500" dirty="0"/>
          </a:p>
        </p:txBody>
      </p:sp>
      <p:sp>
        <p:nvSpPr>
          <p:cNvPr id="9" name="Rectangle 8"/>
          <p:cNvSpPr/>
          <p:nvPr/>
        </p:nvSpPr>
        <p:spPr>
          <a:xfrm>
            <a:off x="4718019" y="2120693"/>
            <a:ext cx="3109368" cy="3428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ln>
                  <a:solidFill>
                    <a:schemeClr val="accent1"/>
                  </a:solidFill>
                </a:ln>
                <a:solidFill>
                  <a:prstClr val="white"/>
                </a:solidFill>
                <a:latin typeface="Calibri" panose="020F0502020204030204"/>
              </a:rPr>
              <a:t>                                           </a:t>
            </a:r>
            <a:endParaRPr lang="en-US" sz="1350" dirty="0">
              <a:ln>
                <a:solidFill>
                  <a:schemeClr val="accent1"/>
                </a:solidFill>
              </a:ln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18019" y="2237759"/>
            <a:ext cx="3185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dirty="0"/>
              <a:t>Performed exploratory data analysis (EDA)</a:t>
            </a:r>
            <a:endParaRPr lang="en-US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586039" y="2273280"/>
            <a:ext cx="3185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600" dirty="0"/>
              <a:t>Cleaned and prepared Amazon product dataset</a:t>
            </a:r>
            <a:endParaRPr lang="en-US" sz="1600" dirty="0"/>
          </a:p>
        </p:txBody>
      </p:sp>
      <p:sp>
        <p:nvSpPr>
          <p:cNvPr id="16" name="Rectangle 15"/>
          <p:cNvSpPr/>
          <p:nvPr/>
        </p:nvSpPr>
        <p:spPr>
          <a:xfrm>
            <a:off x="586039" y="2120692"/>
            <a:ext cx="3109368" cy="3428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ln>
                  <a:solidFill>
                    <a:schemeClr val="accent1"/>
                  </a:solidFill>
                </a:ln>
                <a:solidFill>
                  <a:prstClr val="white"/>
                </a:solidFill>
                <a:latin typeface="Calibri" panose="020F0502020204030204"/>
              </a:rPr>
              <a:t>                                           </a:t>
            </a:r>
            <a:endParaRPr lang="en-US" sz="1350" dirty="0">
              <a:ln>
                <a:solidFill>
                  <a:schemeClr val="accent1"/>
                </a:solidFill>
              </a:ln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4117" y="3985086"/>
            <a:ext cx="3185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dirty="0"/>
              <a:t>Created visualizations to identify trends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662195" y="3710485"/>
            <a:ext cx="3109368" cy="3428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ln>
                  <a:solidFill>
                    <a:schemeClr val="accent1"/>
                  </a:solidFill>
                </a:ln>
                <a:solidFill>
                  <a:prstClr val="white"/>
                </a:solidFill>
                <a:latin typeface="Calibri" panose="020F0502020204030204"/>
              </a:rPr>
              <a:t>                                           </a:t>
            </a:r>
            <a:endParaRPr lang="en-US" sz="1350" dirty="0">
              <a:ln>
                <a:solidFill>
                  <a:schemeClr val="accent1"/>
                </a:solidFill>
              </a:ln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Rectangle 6" descr="Checkmark"/>
          <p:cNvSpPr/>
          <p:nvPr/>
        </p:nvSpPr>
        <p:spPr>
          <a:xfrm>
            <a:off x="662198" y="1474251"/>
            <a:ext cx="654415" cy="670095"/>
          </a:xfrm>
          <a:prstGeom prst="rect">
            <a:avLst/>
          </a:prstGeom>
          <a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 descr="Statistics"/>
          <p:cNvSpPr/>
          <p:nvPr/>
        </p:nvSpPr>
        <p:spPr>
          <a:xfrm>
            <a:off x="4628951" y="1529011"/>
            <a:ext cx="654415" cy="670095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3311292"/>
              <a:satOff val="13270"/>
              <a:lumOff val="2876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 descr="Bar chart"/>
          <p:cNvSpPr/>
          <p:nvPr/>
        </p:nvSpPr>
        <p:spPr>
          <a:xfrm>
            <a:off x="584404" y="3147515"/>
            <a:ext cx="732211" cy="594092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6622584"/>
              <a:satOff val="26541"/>
              <a:lumOff val="5752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4" name="Rectangle 23" descr="Lightbulb"/>
          <p:cNvSpPr/>
          <p:nvPr/>
        </p:nvSpPr>
        <p:spPr>
          <a:xfrm>
            <a:off x="4575860" y="3090015"/>
            <a:ext cx="732207" cy="584775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9933876"/>
              <a:satOff val="39811"/>
              <a:lumOff val="8628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855233" y="68637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/>
              <a:t>Project Overview</a:t>
            </a:r>
            <a:endParaRPr lang="en-US"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/>
          <p:cNvSpPr/>
          <p:nvPr/>
        </p:nvSpPr>
        <p:spPr>
          <a:xfrm>
            <a:off x="2" y="0"/>
            <a:ext cx="12195173" cy="68589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0" y="1083734"/>
            <a:ext cx="355290" cy="673616"/>
            <a:chOff x="0" y="823811"/>
            <a:chExt cx="355196" cy="673460"/>
          </a:xfrm>
          <a:solidFill>
            <a:schemeClr val="accent4"/>
          </a:solidFill>
        </p:grpSpPr>
        <p:sp>
          <p:nvSpPr>
            <p:cNvPr id="4" name="Rectangle 3"/>
            <p:cNvSpPr/>
            <p:nvPr/>
          </p:nvSpPr>
          <p:spPr>
            <a:xfrm>
              <a:off x="0" y="823811"/>
              <a:ext cx="87363" cy="673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 flipH="1">
            <a:off x="10700455" y="0"/>
            <a:ext cx="1494720" cy="68595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687292" y="513971"/>
            <a:ext cx="6010931" cy="58359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flipH="1">
            <a:off x="5885058" y="2091054"/>
            <a:ext cx="4298799" cy="2743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44686" y="2506542"/>
            <a:ext cx="496831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ym typeface="+mn-ea"/>
              </a:rPr>
              <a:t>Objective:</a:t>
            </a:r>
            <a:r>
              <a:rPr lang="en-US" sz="2000" dirty="0">
                <a:sym typeface="+mn-ea"/>
              </a:rPr>
              <a:t> Identify key drivers of product popularity and satisfaction</a:t>
            </a:r>
            <a:endParaRPr lang="en-US" sz="2000" dirty="0">
              <a:sym typeface="+mn-ea"/>
            </a:endParaRPr>
          </a:p>
          <a:p>
            <a:endParaRPr lang="en-US" sz="2000" dirty="0"/>
          </a:p>
          <a:p>
            <a:r>
              <a:rPr lang="en-US" sz="2000" b="1" dirty="0">
                <a:sym typeface="+mn-ea"/>
              </a:rPr>
              <a:t>Dataset</a:t>
            </a:r>
            <a:r>
              <a:rPr lang="en-US" sz="2000" dirty="0">
                <a:sym typeface="+mn-ea"/>
              </a:rPr>
              <a:t>: 1,465 Amazon product records</a:t>
            </a:r>
            <a:endParaRPr lang="en-US" sz="2000" dirty="0"/>
          </a:p>
          <a:p>
            <a:endParaRPr lang="en-US" altLang="en-US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6043550" y="2528523"/>
            <a:ext cx="4519761" cy="14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ym typeface="+mn-ea"/>
              </a:rPr>
              <a:t>Focus Areas:</a:t>
            </a:r>
            <a:endParaRPr lang="en-US" sz="2000" b="1" dirty="0"/>
          </a:p>
          <a:p>
            <a:pPr lvl="1">
              <a:buFont typeface="Wingdings" panose="05000000000000000000" charset="0"/>
              <a:buChar char="ü"/>
            </a:pPr>
            <a:r>
              <a:rPr lang="en-US" sz="1750" dirty="0">
                <a:sym typeface="+mn-ea"/>
              </a:rPr>
              <a:t> Pricing Strategy</a:t>
            </a:r>
            <a:endParaRPr lang="en-US" sz="1750" dirty="0"/>
          </a:p>
          <a:p>
            <a:pPr lvl="1">
              <a:buFont typeface="Wingdings" panose="05000000000000000000" charset="0"/>
              <a:buChar char="ü"/>
            </a:pPr>
            <a:r>
              <a:rPr lang="en-US" sz="1750" dirty="0">
                <a:sym typeface="+mn-ea"/>
              </a:rPr>
              <a:t>Customer Engagement</a:t>
            </a:r>
            <a:endParaRPr lang="en-US" sz="1750" dirty="0"/>
          </a:p>
          <a:p>
            <a:pPr lvl="1">
              <a:buFont typeface="Wingdings" panose="05000000000000000000" charset="0"/>
              <a:buChar char="ü"/>
            </a:pPr>
            <a:r>
              <a:rPr lang="en-US" sz="1750" dirty="0">
                <a:sym typeface="+mn-ea"/>
              </a:rPr>
              <a:t>Customer Satisfaction</a:t>
            </a:r>
            <a:endParaRPr lang="en-US" sz="1750" dirty="0"/>
          </a:p>
          <a:p>
            <a:pPr lvl="1">
              <a:buFont typeface="Wingdings" panose="05000000000000000000" charset="0"/>
              <a:buChar char="ü"/>
            </a:pPr>
            <a:r>
              <a:rPr lang="en-US" sz="1750" dirty="0">
                <a:sym typeface="+mn-ea"/>
              </a:rPr>
              <a:t>Product Performance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2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GB"/>
              <a:t>Ensures reliable, bias-free, and analyzable data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80" y="1463040"/>
            <a:ext cx="3926840" cy="560070"/>
          </a:xfrm>
        </p:spPr>
        <p:txBody>
          <a:bodyPr anchor="t">
            <a:normAutofit/>
          </a:bodyPr>
          <a:lstStyle/>
          <a:p>
            <a:pPr marL="0" indent="0" algn="l">
              <a:buFont typeface="+mj-lt"/>
            </a:pPr>
            <a:r>
              <a:rPr lang="en-US" sz="2000" b="1" dirty="0"/>
              <a:t>1. Data Cleaning and Preparation</a:t>
            </a:r>
            <a:endParaRPr lang="en-US" sz="2000" b="1" dirty="0"/>
          </a:p>
        </p:txBody>
      </p:sp>
      <p:grpSp>
        <p:nvGrpSpPr>
          <p:cNvPr id="10" name="Group 9"/>
          <p:cNvGrpSpPr>
            <a:grpSpLocks noGrp="1" noRot="1" noChangeAspect="1" noMove="1" noResize="1" noUngrp="1"/>
          </p:cNvGrpSpPr>
          <p:nvPr/>
        </p:nvGrpSpPr>
        <p:grpSpPr>
          <a:xfrm>
            <a:off x="157252" y="4415248"/>
            <a:ext cx="8986749" cy="2087795"/>
            <a:chOff x="143163" y="5763486"/>
            <a:chExt cx="11982332" cy="739555"/>
          </a:xfrm>
        </p:grpSpPr>
        <p:sp>
          <p:nvSpPr>
            <p:cNvPr id="11" name="Rectangle 10"/>
            <p:cNvSpPr/>
            <p:nvPr/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066816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5755" y="1463040"/>
            <a:ext cx="4594225" cy="4300220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700" dirty="0"/>
              <a:t>Removed irrelevant columns</a:t>
            </a:r>
            <a:endParaRPr lang="en-US" sz="17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700" dirty="0"/>
              <a:t>Converted price and rating fields to numeric format</a:t>
            </a:r>
            <a:endParaRPr lang="en-US" sz="17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700" dirty="0"/>
              <a:t>Dropped missing values (rating &amp; </a:t>
            </a:r>
            <a:r>
              <a:rPr lang="en-US" sz="1700" dirty="0" err="1"/>
              <a:t>rating_count</a:t>
            </a:r>
            <a:r>
              <a:rPr lang="en-US" sz="1700" dirty="0"/>
              <a:t>)</a:t>
            </a:r>
            <a:endParaRPr lang="en-US" sz="17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700" dirty="0"/>
              <a:t>Removed duplicate records</a:t>
            </a:r>
            <a:endParaRPr lang="en-US" sz="17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700" dirty="0"/>
              <a:t>Engineered new features (</a:t>
            </a:r>
            <a:r>
              <a:rPr lang="en-US" sz="1700" dirty="0" err="1"/>
              <a:t>discount_amount</a:t>
            </a:r>
            <a:r>
              <a:rPr lang="en-US" sz="1700" dirty="0"/>
              <a:t>, </a:t>
            </a:r>
            <a:r>
              <a:rPr lang="en-US" sz="1700" dirty="0" err="1"/>
              <a:t>review_word_count</a:t>
            </a:r>
            <a:r>
              <a:rPr lang="en-US" sz="1700" dirty="0"/>
              <a:t>)</a:t>
            </a:r>
            <a:endParaRPr lang="en-US" sz="17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sz="1700" dirty="0"/>
              <a:t>Extracted main_category from hierarchical categories</a:t>
            </a:r>
            <a:endParaRPr lang="en-US" altLang="en-GB" sz="1700" dirty="0"/>
          </a:p>
        </p:txBody>
      </p:sp>
      <p:sp>
        <p:nvSpPr>
          <p:cNvPr id="4" name="Text Box 3"/>
          <p:cNvSpPr txBox="1"/>
          <p:nvPr/>
        </p:nvSpPr>
        <p:spPr>
          <a:xfrm>
            <a:off x="115570" y="1962150"/>
            <a:ext cx="38703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To ensures reliable, bias-free, and analyzable data</a:t>
            </a:r>
            <a:endParaRPr lang="en-US" alt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" y="2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GB"/>
              <a:t>Ensures reliable, bias-free, and analyzable data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70" y="728980"/>
            <a:ext cx="3926840" cy="560070"/>
          </a:xfrm>
        </p:spPr>
        <p:txBody>
          <a:bodyPr anchor="t">
            <a:normAutofit/>
          </a:bodyPr>
          <a:lstStyle/>
          <a:p>
            <a:pPr marL="0" indent="0" algn="l">
              <a:buFont typeface="+mj-lt"/>
            </a:pPr>
            <a:r>
              <a:rPr lang="en-US" sz="2000" b="1" dirty="0"/>
              <a:t>2. </a:t>
            </a:r>
            <a:r>
              <a:rPr lang="en-US" altLang="en-GB" sz="2000" b="1">
                <a:sym typeface="+mn-ea"/>
              </a:rPr>
              <a:t>Exploratory Data Analysis (EDA)</a:t>
            </a:r>
            <a:endParaRPr lang="en-US" sz="2000" b="1" dirty="0"/>
          </a:p>
        </p:txBody>
      </p:sp>
      <p:grpSp>
        <p:nvGrpSpPr>
          <p:cNvPr id="10" name="Group 9"/>
          <p:cNvGrpSpPr>
            <a:grpSpLocks noGrp="1" noRot="1" noChangeAspect="1" noMove="1" noResize="1" noUngrp="1"/>
          </p:cNvGrpSpPr>
          <p:nvPr/>
        </p:nvGrpSpPr>
        <p:grpSpPr>
          <a:xfrm>
            <a:off x="157252" y="4415248"/>
            <a:ext cx="8986749" cy="2087795"/>
            <a:chOff x="143163" y="5763486"/>
            <a:chExt cx="11982332" cy="739555"/>
          </a:xfrm>
        </p:grpSpPr>
        <p:sp>
          <p:nvSpPr>
            <p:cNvPr id="11" name="Rectangle 10"/>
            <p:cNvSpPr/>
            <p:nvPr/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066816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5755" y="1463040"/>
            <a:ext cx="4594225" cy="4300220"/>
          </a:xfrm>
        </p:spPr>
        <p:txBody>
          <a:bodyPr anchor="t">
            <a:noAutofit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GB" sz="1700" b="1" dirty="0"/>
              <a:t>Relationship Between Discounts, Ratings, and Customer Behavior</a:t>
            </a:r>
            <a:endParaRPr lang="en-US" altLang="en-GB" sz="17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sz="1700" dirty="0"/>
              <a:t>We examined whether pricing incentives and customer feedback influence product popularity and satisfaction.</a:t>
            </a:r>
            <a:endParaRPr lang="en-US" altLang="en-GB" sz="1700" dirty="0"/>
          </a:p>
          <a:p>
            <a:pPr>
              <a:buFont typeface="Wingdings" panose="05000000000000000000" pitchFamily="2" charset="2"/>
              <a:buChar char="Ø"/>
            </a:pPr>
            <a:endParaRPr lang="en-US" altLang="en-GB" sz="1700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GB" sz="1700" b="1" dirty="0"/>
              <a:t>Conclusion</a:t>
            </a:r>
            <a:r>
              <a:rPr lang="en-US" altLang="en-GB" sz="1700" dirty="0"/>
              <a:t>:</a:t>
            </a:r>
            <a:endParaRPr lang="en-US" altLang="en-GB" sz="17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sz="1700" dirty="0"/>
              <a:t>Customer engagement is not strongly driven by discounts or ratings alone.  </a:t>
            </a:r>
            <a:endParaRPr lang="en-US" altLang="en-GB" sz="17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sz="1700" dirty="0"/>
              <a:t>Popularity and satisfaction appear to depend more on product usefulness and real customer demand rather than simple pricing or review metrics.</a:t>
            </a:r>
            <a:endParaRPr lang="en-US" altLang="en-GB" sz="1700" dirty="0"/>
          </a:p>
        </p:txBody>
      </p:sp>
      <p:sp>
        <p:nvSpPr>
          <p:cNvPr id="4" name="Text Box 3"/>
          <p:cNvSpPr txBox="1"/>
          <p:nvPr/>
        </p:nvSpPr>
        <p:spPr>
          <a:xfrm>
            <a:off x="157480" y="1361440"/>
            <a:ext cx="38703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To explore data patterns, distributions, and relationships before drawing strategic conclusions.</a:t>
            </a:r>
            <a:endParaRPr lang="en-US" alt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38902" y="1546006"/>
            <a:ext cx="529595" cy="4397523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4"/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vert="horz" wrap="square" lIns="68563" tIns="34281" rIns="68563" bIns="34281" numCol="1" anchor="t" anchorCtr="0" compatLnSpc="1"/>
          <a:lstStyle/>
          <a:p>
            <a:endParaRPr lang="en-US" sz="135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78790" y="1114425"/>
            <a:ext cx="8200390" cy="51428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>
                <a:lumMod val="75000"/>
              </a:schemeClr>
            </a:solidFill>
            <a:miter lim="800000"/>
          </a:ln>
        </p:spPr>
        <p:txBody>
          <a:bodyPr vert="horz" wrap="square" lIns="68563" tIns="34281" rIns="68563" bIns="34281" numCol="1" anchor="t" anchorCtr="0" compatLnSpc="1"/>
          <a:lstStyle/>
          <a:p>
            <a:endParaRPr lang="en-US" sz="1350"/>
          </a:p>
        </p:txBody>
      </p:sp>
      <p:cxnSp>
        <p:nvCxnSpPr>
          <p:cNvPr id="14" name="Straight Connector 13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572000" y="1495604"/>
            <a:ext cx="0" cy="436626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/>
          <p:cNvSpPr>
            <a:spLocks noGrp="1"/>
          </p:cNvSpPr>
          <p:nvPr/>
        </p:nvSpPr>
        <p:spPr>
          <a:xfrm>
            <a:off x="220345" y="501015"/>
            <a:ext cx="2305050" cy="56007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ctr">
              <a:lnSpc>
                <a:spcPct val="150000"/>
              </a:lnSpc>
              <a:buFont typeface="+mj-lt"/>
            </a:pPr>
            <a:r>
              <a:rPr lang="en-US" sz="2000" b="1" dirty="0"/>
              <a:t>3. </a:t>
            </a:r>
            <a:r>
              <a:rPr lang="en-US" altLang="en-GB" sz="2000" b="1">
                <a:sym typeface="+mn-ea"/>
              </a:rPr>
              <a:t>Visualization</a:t>
            </a:r>
            <a:endParaRPr lang="en-US" sz="20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185" y="1451610"/>
            <a:ext cx="3680460" cy="228346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573405" y="4088765"/>
            <a:ext cx="387032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400" b="1"/>
              <a:t>Key Insight: </a:t>
            </a:r>
            <a:endParaRPr lang="en-US" altLang="en-GB" sz="1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400"/>
              <a:t>Discounts show little impact on popularity. Large price cuts don’t guarantee more ratings or engagement</a:t>
            </a:r>
            <a:endParaRPr lang="en-US" altLang="en-GB" sz="1400"/>
          </a:p>
          <a:p>
            <a:pPr indent="0">
              <a:buFont typeface="Arial" panose="020B0604020202020204" pitchFamily="34" charset="0"/>
              <a:buNone/>
            </a:pPr>
            <a:endParaRPr lang="en-US" altLang="en-GB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400"/>
              <a:t>Popularity is likely driven by product relevance rather than promotions.</a:t>
            </a:r>
            <a:endParaRPr lang="en-US" altLang="en-GB" sz="1400"/>
          </a:p>
          <a:p>
            <a:endParaRPr lang="en-US" altLang="en-GB" sz="140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975" y="1451610"/>
            <a:ext cx="3624580" cy="2248535"/>
          </a:xfrm>
          <a:prstGeom prst="rect">
            <a:avLst/>
          </a:prstGeom>
        </p:spPr>
      </p:pic>
      <p:sp>
        <p:nvSpPr>
          <p:cNvPr id="27" name="Text Box 26"/>
          <p:cNvSpPr txBox="1"/>
          <p:nvPr/>
        </p:nvSpPr>
        <p:spPr>
          <a:xfrm>
            <a:off x="4745355" y="4088765"/>
            <a:ext cx="387032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400" b="1"/>
              <a:t>Key Insight: </a:t>
            </a:r>
            <a:endParaRPr lang="en-US" altLang="en-GB" sz="1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400"/>
              <a:t> Longer reviews are not strongly associated with higher or lower ratings.</a:t>
            </a:r>
            <a:endParaRPr lang="en-US" altLang="en-GB" sz="1400"/>
          </a:p>
          <a:p>
            <a:pPr indent="0">
              <a:buFont typeface="Arial" panose="020B0604020202020204" pitchFamily="34" charset="0"/>
              <a:buNone/>
            </a:pPr>
            <a:endParaRPr lang="en-US" altLang="en-GB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400"/>
              <a:t>Review length reflects customer involvement, not necessarily satisfaction.</a:t>
            </a:r>
            <a:endParaRPr lang="en-US" altLang="en-GB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38902" y="1546006"/>
            <a:ext cx="529595" cy="4397523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4"/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vert="horz" wrap="square" lIns="68563" tIns="34281" rIns="68563" bIns="34281" numCol="1" anchor="t" anchorCtr="0" compatLnSpc="1"/>
          <a:lstStyle/>
          <a:p>
            <a:endParaRPr lang="en-US" sz="135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78790" y="1114425"/>
            <a:ext cx="8200390" cy="51428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>
                <a:lumMod val="75000"/>
              </a:schemeClr>
            </a:solidFill>
            <a:miter lim="800000"/>
          </a:ln>
        </p:spPr>
        <p:txBody>
          <a:bodyPr vert="horz" wrap="square" lIns="68563" tIns="34281" rIns="68563" bIns="34281" numCol="1" anchor="t" anchorCtr="0" compatLnSpc="1"/>
          <a:lstStyle/>
          <a:p>
            <a:endParaRPr lang="en-US" sz="1350"/>
          </a:p>
        </p:txBody>
      </p:sp>
      <p:cxnSp>
        <p:nvCxnSpPr>
          <p:cNvPr id="14" name="Straight Connector 13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572000" y="1495604"/>
            <a:ext cx="0" cy="436626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573405" y="4088765"/>
            <a:ext cx="387032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400" b="1"/>
              <a:t>Key Insight: </a:t>
            </a:r>
            <a:endParaRPr lang="en-US" altLang="en-GB" sz="1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400"/>
              <a:t>Certain categories dominate the mix.</a:t>
            </a:r>
            <a:endParaRPr lang="en-US" altLang="en-GB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400"/>
              <a:t>Market competition is likely higher in dominant categories.</a:t>
            </a:r>
            <a:endParaRPr lang="en-US" altLang="en-GB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400"/>
              <a:t>Category concentration suggests tailored strategies are needed per segment.</a:t>
            </a:r>
            <a:endParaRPr lang="en-US" altLang="en-GB" sz="1400"/>
          </a:p>
        </p:txBody>
      </p:sp>
      <p:sp>
        <p:nvSpPr>
          <p:cNvPr id="27" name="Text Box 26"/>
          <p:cNvSpPr txBox="1"/>
          <p:nvPr/>
        </p:nvSpPr>
        <p:spPr>
          <a:xfrm>
            <a:off x="4745355" y="4088765"/>
            <a:ext cx="387032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400" b="1"/>
              <a:t>Key Insight: </a:t>
            </a:r>
            <a:endParaRPr lang="en-US" altLang="en-GB" sz="1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400"/>
              <a:t>Low product volume</a:t>
            </a:r>
            <a:endParaRPr lang="en-US" altLang="en-GB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400"/>
              <a:t>Lower competition</a:t>
            </a:r>
            <a:endParaRPr lang="en-US" altLang="en-GB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400"/>
              <a:t>Potential for focused growth</a:t>
            </a:r>
            <a:endParaRPr lang="en-US" altLang="en-GB" sz="1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445" y="1260475"/>
            <a:ext cx="3931285" cy="226568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945" y="1260475"/>
            <a:ext cx="3931920" cy="2334257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/>
        </p:nvSpPr>
        <p:spPr>
          <a:xfrm>
            <a:off x="220345" y="501015"/>
            <a:ext cx="2305050" cy="56007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ctr">
              <a:lnSpc>
                <a:spcPct val="150000"/>
              </a:lnSpc>
              <a:buFont typeface="+mj-lt"/>
            </a:pPr>
            <a:r>
              <a:rPr lang="en-US" sz="2000" b="1" dirty="0"/>
              <a:t>...con’t</a:t>
            </a:r>
            <a:endParaRPr lang="en-US" sz="20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38902" y="1546006"/>
            <a:ext cx="529595" cy="4397523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4"/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vert="horz" wrap="square" lIns="68563" tIns="34281" rIns="68563" bIns="34281" numCol="1" anchor="t" anchorCtr="0" compatLnSpc="1"/>
          <a:lstStyle/>
          <a:p>
            <a:endParaRPr lang="en-US" sz="135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78790" y="1114425"/>
            <a:ext cx="8200390" cy="51428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>
                <a:lumMod val="75000"/>
              </a:schemeClr>
            </a:solidFill>
            <a:miter lim="800000"/>
          </a:ln>
        </p:spPr>
        <p:txBody>
          <a:bodyPr vert="horz" wrap="square" lIns="68563" tIns="34281" rIns="68563" bIns="34281" numCol="1" anchor="t" anchorCtr="0" compatLnSpc="1"/>
          <a:lstStyle/>
          <a:p>
            <a:endParaRPr lang="en-US" sz="1350"/>
          </a:p>
        </p:txBody>
      </p:sp>
      <p:cxnSp>
        <p:nvCxnSpPr>
          <p:cNvPr id="14" name="Straight Connector 13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572000" y="1495604"/>
            <a:ext cx="0" cy="436626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573405" y="4244340"/>
            <a:ext cx="387032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400" b="1"/>
              <a:t>Key Insight: </a:t>
            </a:r>
            <a:endParaRPr lang="en-US" altLang="en-GB" sz="1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400"/>
              <a:t>Most products have high ratings.</a:t>
            </a:r>
            <a:endParaRPr lang="en-US" altLang="en-GB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400"/>
              <a:t>Very low-rated products are rare.</a:t>
            </a:r>
            <a:endParaRPr lang="en-US" altLang="en-GB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400"/>
              <a:t>Customer satisfaction overall appears positive. which shows strong product quality control</a:t>
            </a:r>
            <a:endParaRPr lang="en-US" altLang="en-GB" sz="1400"/>
          </a:p>
        </p:txBody>
      </p:sp>
      <p:sp>
        <p:nvSpPr>
          <p:cNvPr id="27" name="Text Box 26"/>
          <p:cNvSpPr txBox="1"/>
          <p:nvPr/>
        </p:nvSpPr>
        <p:spPr>
          <a:xfrm>
            <a:off x="4745355" y="4088765"/>
            <a:ext cx="3870325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400" b="1"/>
              <a:t>Key Insight: </a:t>
            </a:r>
            <a:endParaRPr lang="en-US" altLang="en-GB" sz="1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400"/>
              <a:t>Discounts cluster around moderate ranges, with fewer extreme promotions.</a:t>
            </a:r>
            <a:endParaRPr lang="en-US" altLang="en-GB" sz="1400"/>
          </a:p>
          <a:p>
            <a:pPr indent="0">
              <a:buFont typeface="Arial" panose="020B0604020202020204" pitchFamily="34" charset="0"/>
              <a:buNone/>
            </a:pPr>
            <a:endParaRPr lang="en-US" altLang="en-GB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400"/>
              <a:t>Balanced discounting is common, but extreme discounts are rare and not necessarily effective.</a:t>
            </a:r>
            <a:endParaRPr lang="en-US" altLang="en-GB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1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890" y="1376045"/>
            <a:ext cx="3403600" cy="27127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830" y="1414780"/>
            <a:ext cx="3178810" cy="2534285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/>
        </p:nvSpPr>
        <p:spPr>
          <a:xfrm>
            <a:off x="220345" y="501015"/>
            <a:ext cx="2305050" cy="56007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ctr">
              <a:lnSpc>
                <a:spcPct val="150000"/>
              </a:lnSpc>
              <a:buFont typeface="+mj-lt"/>
            </a:pPr>
            <a:r>
              <a:rPr lang="en-US" sz="2000" b="1" dirty="0"/>
              <a:t>...con’t</a:t>
            </a:r>
            <a:endParaRPr lang="en-US" sz="20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38902" y="1546006"/>
            <a:ext cx="529595" cy="4397523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4"/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vert="horz" wrap="square" lIns="68563" tIns="34281" rIns="68563" bIns="34281" numCol="1" anchor="t" anchorCtr="0" compatLnSpc="1"/>
          <a:lstStyle/>
          <a:p>
            <a:endParaRPr lang="en-US" sz="135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78790" y="1114425"/>
            <a:ext cx="8200390" cy="51428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>
                <a:lumMod val="75000"/>
              </a:schemeClr>
            </a:solidFill>
            <a:miter lim="800000"/>
          </a:ln>
        </p:spPr>
        <p:txBody>
          <a:bodyPr vert="horz" wrap="square" lIns="68563" tIns="34281" rIns="68563" bIns="34281" numCol="1" anchor="t" anchorCtr="0" compatLnSpc="1"/>
          <a:lstStyle/>
          <a:p>
            <a:endParaRPr lang="en-US" sz="1350"/>
          </a:p>
        </p:txBody>
      </p:sp>
      <p:sp>
        <p:nvSpPr>
          <p:cNvPr id="27" name="Text Box 26"/>
          <p:cNvSpPr txBox="1"/>
          <p:nvPr/>
        </p:nvSpPr>
        <p:spPr>
          <a:xfrm>
            <a:off x="695325" y="3738245"/>
            <a:ext cx="742759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400" b="1"/>
              <a:t>Key Insight: </a:t>
            </a:r>
            <a:endParaRPr lang="en-US" altLang="en-GB" sz="1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400"/>
              <a:t>A small number of products account for the majority of reviews.</a:t>
            </a:r>
            <a:endParaRPr lang="en-US" altLang="en-GB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400"/>
              <a:t>Engagement is concentrated in a few items.</a:t>
            </a:r>
            <a:endParaRPr lang="en-US" altLang="en-GB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400"/>
              <a:t>A few products drive most customer attention, so strategic focus on high-performing items is critical</a:t>
            </a:r>
            <a:endParaRPr lang="en-US" altLang="en-GB" sz="14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020" y="1228725"/>
            <a:ext cx="8061960" cy="1651635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/>
        </p:nvSpPr>
        <p:spPr>
          <a:xfrm>
            <a:off x="220345" y="501015"/>
            <a:ext cx="2305050" cy="56007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ctr">
              <a:lnSpc>
                <a:spcPct val="150000"/>
              </a:lnSpc>
              <a:buFont typeface="+mj-lt"/>
            </a:pPr>
            <a:r>
              <a:rPr lang="en-US" sz="2000" b="1" dirty="0"/>
              <a:t>...con’t</a:t>
            </a:r>
            <a:endParaRPr lang="en-US" sz="20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38902" y="1546006"/>
            <a:ext cx="529595" cy="4397523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4"/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vert="horz" wrap="square" lIns="68563" tIns="34281" rIns="68563" bIns="34281" numCol="1" anchor="t" anchorCtr="0" compatLnSpc="1"/>
          <a:lstStyle/>
          <a:p>
            <a:endParaRPr lang="en-US" sz="135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78790" y="1114425"/>
            <a:ext cx="8200390" cy="51428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>
                <a:lumMod val="75000"/>
              </a:schemeClr>
            </a:solidFill>
            <a:miter lim="800000"/>
          </a:ln>
        </p:spPr>
        <p:txBody>
          <a:bodyPr vert="horz" wrap="square" lIns="68563" tIns="34281" rIns="68563" bIns="34281" numCol="1" anchor="t" anchorCtr="0" compatLnSpc="1"/>
          <a:lstStyle/>
          <a:p>
            <a:endParaRPr lang="en-US" sz="1350"/>
          </a:p>
        </p:txBody>
      </p:sp>
      <p:sp>
        <p:nvSpPr>
          <p:cNvPr id="27" name="Text Box 26"/>
          <p:cNvSpPr txBox="1"/>
          <p:nvPr/>
        </p:nvSpPr>
        <p:spPr>
          <a:xfrm>
            <a:off x="546100" y="5017770"/>
            <a:ext cx="810069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400" b="1"/>
              <a:t>Key Insight: </a:t>
            </a:r>
            <a:endParaRPr lang="en-US" altLang="en-GB" sz="1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400"/>
              <a:t>Weak correlations across discounts, ratings.</a:t>
            </a:r>
            <a:endParaRPr lang="en-US" altLang="en-GB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400"/>
              <a:t>No single metric dominates </a:t>
            </a:r>
            <a:endParaRPr lang="en-US" altLang="en-GB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400"/>
              <a:t>product performance is multifactorial.</a:t>
            </a:r>
            <a:endParaRPr lang="en-US" altLang="en-GB" sz="14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715" y="1274445"/>
            <a:ext cx="4534535" cy="3646805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/>
        </p:nvSpPr>
        <p:spPr>
          <a:xfrm>
            <a:off x="220345" y="501015"/>
            <a:ext cx="2305050" cy="56007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ctr">
              <a:lnSpc>
                <a:spcPct val="150000"/>
              </a:lnSpc>
              <a:buFont typeface="+mj-lt"/>
            </a:pPr>
            <a:r>
              <a:rPr lang="en-US" sz="2000" b="1" dirty="0"/>
              <a:t>...con’t</a:t>
            </a:r>
            <a:endParaRPr lang="en-US" sz="20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38902" y="1546006"/>
            <a:ext cx="529595" cy="4397523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4"/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vert="horz" wrap="square" lIns="68563" tIns="34281" rIns="68563" bIns="34281" numCol="1" anchor="t" anchorCtr="0" compatLnSpc="1"/>
          <a:lstStyle/>
          <a:p>
            <a:endParaRPr lang="en-US" sz="135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78790" y="1114425"/>
            <a:ext cx="8200390" cy="51428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>
                <a:lumMod val="75000"/>
              </a:schemeClr>
            </a:solidFill>
            <a:miter lim="800000"/>
          </a:ln>
        </p:spPr>
        <p:txBody>
          <a:bodyPr vert="horz" wrap="square" lIns="68563" tIns="34281" rIns="68563" bIns="34281" numCol="1" anchor="t" anchorCtr="0" compatLnSpc="1"/>
          <a:lstStyle/>
          <a:p>
            <a:endParaRPr lang="en-US" sz="1350"/>
          </a:p>
        </p:txBody>
      </p:sp>
      <p:cxnSp>
        <p:nvCxnSpPr>
          <p:cNvPr id="14" name="Straight Connector 13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572000" y="1495604"/>
            <a:ext cx="0" cy="436626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2"/>
          <p:cNvSpPr txBox="1"/>
          <p:nvPr/>
        </p:nvSpPr>
        <p:spPr>
          <a:xfrm>
            <a:off x="527685" y="1235075"/>
            <a:ext cx="356489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+mj-lt"/>
              <a:buNone/>
            </a:pPr>
            <a:r>
              <a:rPr lang="en-US" sz="2000" b="1">
                <a:sym typeface="+mn-ea"/>
              </a:rPr>
              <a:t>4. </a:t>
            </a:r>
            <a:r>
              <a:rPr sz="2000" b="1">
                <a:sym typeface="+mn-ea"/>
              </a:rPr>
              <a:t>Recommendations</a:t>
            </a:r>
            <a:endParaRPr lang="en-GB" altLang="en-US" sz="2000" b="1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27685" y="1774825"/>
            <a:ext cx="3806190" cy="3433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GB" sz="1600"/>
              <a:t>Focus on product relevance Over Discounting</a:t>
            </a:r>
            <a:endParaRPr lang="en-US" altLang="en-GB" sz="160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GB" sz="1600"/>
              <a:t>Leverage High-Performing Products</a:t>
            </a:r>
            <a:endParaRPr lang="en-US" altLang="en-GB" sz="160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GB" sz="1600"/>
              <a:t>Optimize Category-Level Strategy </a:t>
            </a:r>
            <a:endParaRPr lang="en-US" altLang="en-GB" sz="160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GB" sz="1600"/>
              <a:t>Demand alignment, not discount competition alone.</a:t>
            </a:r>
            <a:endParaRPr lang="en-US" altLang="en-GB" sz="160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GB" sz="1600"/>
              <a:t>Use Data-Driven Performance Monitoring</a:t>
            </a:r>
            <a:endParaRPr lang="en-US" altLang="en-GB" sz="1600"/>
          </a:p>
        </p:txBody>
      </p:sp>
      <p:sp>
        <p:nvSpPr>
          <p:cNvPr id="6" name="Text Box 5"/>
          <p:cNvSpPr txBox="1"/>
          <p:nvPr/>
        </p:nvSpPr>
        <p:spPr>
          <a:xfrm>
            <a:off x="4669155" y="1235075"/>
            <a:ext cx="33280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 b="1">
                <a:sym typeface="+mn-ea"/>
              </a:rPr>
              <a:t>5. </a:t>
            </a:r>
            <a:r>
              <a:rPr sz="2000" b="1">
                <a:sym typeface="+mn-ea"/>
              </a:rPr>
              <a:t>Executive Summary</a:t>
            </a:r>
            <a:endParaRPr lang="en-GB" altLang="en-US" sz="2000" b="1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810125" y="1828800"/>
            <a:ext cx="368998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sz="1600">
                <a:sym typeface="+mn-ea"/>
              </a:rPr>
              <a:t>Product success is demand-driven rather than discount-driven.</a:t>
            </a:r>
            <a:endParaRPr sz="1600"/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sz="1600">
                <a:sym typeface="+mn-ea"/>
              </a:rPr>
              <a:t>Customer satisfaction is generally high across products.</a:t>
            </a:r>
            <a:endParaRPr sz="1600"/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sz="1600">
                <a:sym typeface="+mn-ea"/>
              </a:rPr>
              <a:t>Popularity depends on multiple factors beyond price and ratings.</a:t>
            </a:r>
            <a:endParaRPr sz="1600"/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sz="1600">
                <a:sym typeface="+mn-ea"/>
              </a:rPr>
              <a:t>Strategic pricing and product relevance are key growth levers.</a:t>
            </a:r>
            <a:endParaRPr lang="en-US" altLang="en-GB"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" y="3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6"/>
            <a:ext cx="9144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7348" y="551965"/>
            <a:ext cx="8249304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 flipH="1">
            <a:off x="447350" y="6354708"/>
            <a:ext cx="8250175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/>
          <p:nvPr>
            <p:ph type="ctrTitle"/>
          </p:nvPr>
        </p:nvSpPr>
        <p:spPr/>
        <p:txBody>
          <a:bodyPr/>
          <a:p>
            <a:r>
              <a:rPr lang="en-US" altLang="en-GB"/>
              <a:t>Thank you!</a:t>
            </a:r>
            <a:endParaRPr lang="en-US" alt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3444</Words>
  <Application>WPS Presentation</Application>
  <PresentationFormat>On-screen Show (4:3)</PresentationFormat>
  <Paragraphs>130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Arial</vt:lpstr>
      <vt:lpstr>Calibri body</vt:lpstr>
      <vt:lpstr>Calibri</vt:lpstr>
      <vt:lpstr>Wingdings</vt:lpstr>
      <vt:lpstr>Microsoft YaHei</vt:lpstr>
      <vt:lpstr>Arial Unicode MS</vt:lpstr>
      <vt:lpstr>Aptos</vt:lpstr>
      <vt:lpstr>Segoe UI</vt:lpstr>
      <vt:lpstr>Calibri</vt:lpstr>
      <vt:lpstr>Office Theme</vt:lpstr>
      <vt:lpstr>Amazon E-Commerce Product Analysis</vt:lpstr>
      <vt:lpstr>PowerPoint 演示文稿</vt:lpstr>
      <vt:lpstr>PowerPoint 演示文稿</vt:lpstr>
      <vt:lpstr>Data Cleaning &amp; Preparation</vt:lpstr>
      <vt:lpstr>1. Data Cleaning and Preparation</vt:lpstr>
      <vt:lpstr>2. Exploratory Data Analysis (EDA)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Amazon E-Commerce Product Analysis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Pulse Marketing</dc:creator>
  <dc:description>generated using python-pptx</dc:description>
  <cp:lastModifiedBy>Edom Kinfe</cp:lastModifiedBy>
  <cp:revision>116</cp:revision>
  <dcterms:created xsi:type="dcterms:W3CDTF">2013-01-27T09:14:00Z</dcterms:created>
  <dcterms:modified xsi:type="dcterms:W3CDTF">2026-02-25T21:37:11Z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FF2755947E71404E95CEE49D73D43CEE_13</vt:lpwstr>
  </property>
  <property fmtid="{D5CDD505-2E9C-101B-9397-08002B2CF9AE}" pid="3" name="KSOProductBuildVer">
    <vt:lpwstr>2057-12.2.0.23196</vt:lpwstr>
  </property>
</Properties>
</file>